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Open Sans Bold" charset="1" panose="020B0806030504020204"/>
      <p:regular r:id="rId15"/>
    </p:embeddedFont>
    <p:embeddedFont>
      <p:font typeface="Open Sans" charset="1" panose="020B0606030504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77231" y="8559910"/>
            <a:ext cx="1152176" cy="23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9"/>
              </a:lnSpc>
            </a:pPr>
            <a:r>
              <a:rPr lang="en-US" b="true" sz="1420">
                <a:solidFill>
                  <a:srgbClr val="38B6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UI UX Desig</a:t>
            </a:r>
            <a:r>
              <a:rPr lang="en-US" b="true" sz="1420">
                <a:solidFill>
                  <a:srgbClr val="38B6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890020" y="8559910"/>
            <a:ext cx="1483917" cy="23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9"/>
              </a:lnSpc>
            </a:pPr>
            <a:r>
              <a:rPr lang="en-US" b="true" sz="1420">
                <a:solidFill>
                  <a:srgbClr val="38B6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Project Manager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78307" y="8569435"/>
            <a:ext cx="1635444" cy="380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1"/>
              </a:lnSpc>
            </a:pPr>
            <a:r>
              <a:rPr lang="en-US" b="true" sz="1129">
                <a:solidFill>
                  <a:srgbClr val="38B6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Software &amp; Documentatio</a:t>
            </a:r>
            <a:r>
              <a:rPr lang="en-US" b="true" sz="1129">
                <a:solidFill>
                  <a:srgbClr val="38B6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41676" y="8559910"/>
            <a:ext cx="895242" cy="23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9"/>
              </a:lnSpc>
            </a:pPr>
            <a:r>
              <a:rPr lang="en-US" b="true" sz="1420">
                <a:solidFill>
                  <a:srgbClr val="38B6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Hardware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98995" y="8559910"/>
            <a:ext cx="895242" cy="23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9"/>
              </a:lnSpc>
            </a:pPr>
            <a:r>
              <a:rPr lang="en-US" b="true" sz="1420">
                <a:solidFill>
                  <a:srgbClr val="38B6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Hardware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398893" y="8569435"/>
            <a:ext cx="1635444" cy="380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1"/>
              </a:lnSpc>
            </a:pPr>
            <a:r>
              <a:rPr lang="en-US" b="true" sz="1129">
                <a:solidFill>
                  <a:srgbClr val="38B6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Software &amp; Documentatio</a:t>
            </a:r>
            <a:r>
              <a:rPr lang="en-US" b="true" sz="1129">
                <a:solidFill>
                  <a:srgbClr val="38B6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734"/>
            <a:ext cx="18288000" cy="10292469"/>
          </a:xfrm>
          <a:custGeom>
            <a:avLst/>
            <a:gdLst/>
            <a:ahLst/>
            <a:cxnLst/>
            <a:rect r="r" b="b" t="t" l="l"/>
            <a:pathLst>
              <a:path h="10292469" w="18288000">
                <a:moveTo>
                  <a:pt x="0" y="0"/>
                </a:moveTo>
                <a:lnTo>
                  <a:pt x="18288000" y="0"/>
                </a:lnTo>
                <a:lnTo>
                  <a:pt x="18288000" y="10292468"/>
                </a:lnTo>
                <a:lnTo>
                  <a:pt x="0" y="102924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839245" y="1377642"/>
            <a:ext cx="12609511" cy="7880658"/>
          </a:xfrm>
          <a:custGeom>
            <a:avLst/>
            <a:gdLst/>
            <a:ahLst/>
            <a:cxnLst/>
            <a:rect r="r" b="b" t="t" l="l"/>
            <a:pathLst>
              <a:path h="7880658" w="12609511">
                <a:moveTo>
                  <a:pt x="0" y="0"/>
                </a:moveTo>
                <a:lnTo>
                  <a:pt x="12609510" y="0"/>
                </a:lnTo>
                <a:lnTo>
                  <a:pt x="12609510" y="7880658"/>
                </a:lnTo>
                <a:lnTo>
                  <a:pt x="0" y="78806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93" t="-8345" r="-4267" b="-1045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526577" y="64700"/>
            <a:ext cx="9234845" cy="1151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84"/>
              </a:lnSpc>
            </a:pPr>
            <a:r>
              <a:rPr lang="en-US" b="true" sz="6774">
                <a:solidFill>
                  <a:srgbClr val="F0EDE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Mind Mapping FigJam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734"/>
            <a:ext cx="18283141" cy="10289734"/>
          </a:xfrm>
          <a:custGeom>
            <a:avLst/>
            <a:gdLst/>
            <a:ahLst/>
            <a:cxnLst/>
            <a:rect r="r" b="b" t="t" l="l"/>
            <a:pathLst>
              <a:path h="10289734" w="18283141">
                <a:moveTo>
                  <a:pt x="0" y="0"/>
                </a:moveTo>
                <a:lnTo>
                  <a:pt x="18283141" y="0"/>
                </a:lnTo>
                <a:lnTo>
                  <a:pt x="18283141" y="10289734"/>
                </a:lnTo>
                <a:lnTo>
                  <a:pt x="0" y="102897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1812" y="1353175"/>
            <a:ext cx="11448921" cy="7577916"/>
          </a:xfrm>
          <a:custGeom>
            <a:avLst/>
            <a:gdLst/>
            <a:ahLst/>
            <a:cxnLst/>
            <a:rect r="r" b="b" t="t" l="l"/>
            <a:pathLst>
              <a:path h="7577916" w="11448921">
                <a:moveTo>
                  <a:pt x="0" y="0"/>
                </a:moveTo>
                <a:lnTo>
                  <a:pt x="11448921" y="0"/>
                </a:lnTo>
                <a:lnTo>
                  <a:pt x="11448921" y="7577916"/>
                </a:lnTo>
                <a:lnTo>
                  <a:pt x="0" y="75779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46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387607" y="1517469"/>
            <a:ext cx="4871693" cy="584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0EDEB"/>
                </a:solidFill>
                <a:latin typeface="Open Sans"/>
                <a:ea typeface="Open Sans"/>
                <a:cs typeface="Open Sans"/>
                <a:sym typeface="Open Sans"/>
              </a:rPr>
              <a:t>Project Pak</a:t>
            </a:r>
            <a:r>
              <a:rPr lang="en-US" sz="3000">
                <a:solidFill>
                  <a:srgbClr val="F0EDEB"/>
                </a:solidFill>
                <a:latin typeface="Open Sans"/>
                <a:ea typeface="Open Sans"/>
                <a:cs typeface="Open Sans"/>
                <a:sym typeface="Open Sans"/>
              </a:rPr>
              <a:t>anPitik ini kami kembangkan untuk tujuan memenuhi kebutuhan peternak untuk sistem pemberian pakan otomatis yang efisien, dan mampu memantau stok secara real-time, mengurangi pemborosan pakan, dan mempermudah pengelolaan dikandang.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916296" y="-64349"/>
            <a:ext cx="9833745" cy="1093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48"/>
              </a:lnSpc>
            </a:pPr>
            <a:r>
              <a:rPr lang="en-US" sz="6391" b="true">
                <a:solidFill>
                  <a:srgbClr val="F0EDE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Diskripsi Masalah Nyata</a:t>
            </a:r>
          </a:p>
        </p:txBody>
      </p:sp>
    </p:spTree>
  </p:cSld>
  <p:clrMapOvr>
    <a:masterClrMapping/>
  </p:clrMapOvr>
  <p:transition spd="slow">
    <p:push dir="r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59" y="0"/>
            <a:ext cx="18278283" cy="10287000"/>
          </a:xfrm>
          <a:custGeom>
            <a:avLst/>
            <a:gdLst/>
            <a:ahLst/>
            <a:cxnLst/>
            <a:rect r="r" b="b" t="t" l="l"/>
            <a:pathLst>
              <a:path h="10287000" w="18278283">
                <a:moveTo>
                  <a:pt x="0" y="0"/>
                </a:moveTo>
                <a:lnTo>
                  <a:pt x="18278282" y="0"/>
                </a:lnTo>
                <a:lnTo>
                  <a:pt x="1827828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687798"/>
            <a:ext cx="16230600" cy="9272688"/>
          </a:xfrm>
          <a:custGeom>
            <a:avLst/>
            <a:gdLst/>
            <a:ahLst/>
            <a:cxnLst/>
            <a:rect r="r" b="b" t="t" l="l"/>
            <a:pathLst>
              <a:path h="9272688" w="16230600">
                <a:moveTo>
                  <a:pt x="0" y="0"/>
                </a:moveTo>
                <a:lnTo>
                  <a:pt x="16230600" y="0"/>
                </a:lnTo>
                <a:lnTo>
                  <a:pt x="16230600" y="9272688"/>
                </a:lnTo>
                <a:lnTo>
                  <a:pt x="0" y="9272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70" t="0" r="-67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534172" y="85664"/>
            <a:ext cx="5219655" cy="773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50"/>
              </a:lnSpc>
            </a:pPr>
            <a:r>
              <a:rPr lang="en-US" sz="4535" b="true">
                <a:solidFill>
                  <a:srgbClr val="F0EDE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FishBone Diagram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59" y="0"/>
            <a:ext cx="18278283" cy="10287000"/>
          </a:xfrm>
          <a:custGeom>
            <a:avLst/>
            <a:gdLst/>
            <a:ahLst/>
            <a:cxnLst/>
            <a:rect r="r" b="b" t="t" l="l"/>
            <a:pathLst>
              <a:path h="10287000" w="18278283">
                <a:moveTo>
                  <a:pt x="0" y="0"/>
                </a:moveTo>
                <a:lnTo>
                  <a:pt x="18278282" y="0"/>
                </a:lnTo>
                <a:lnTo>
                  <a:pt x="1827828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64023" y="1235260"/>
            <a:ext cx="13759954" cy="8513971"/>
          </a:xfrm>
          <a:custGeom>
            <a:avLst/>
            <a:gdLst/>
            <a:ahLst/>
            <a:cxnLst/>
            <a:rect r="r" b="b" t="t" l="l"/>
            <a:pathLst>
              <a:path h="8513971" w="13759954">
                <a:moveTo>
                  <a:pt x="0" y="0"/>
                </a:moveTo>
                <a:lnTo>
                  <a:pt x="13759954" y="0"/>
                </a:lnTo>
                <a:lnTo>
                  <a:pt x="13759954" y="8513971"/>
                </a:lnTo>
                <a:lnTo>
                  <a:pt x="0" y="85139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52102" y="-123825"/>
            <a:ext cx="10783796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97"/>
              </a:lnSpc>
            </a:pPr>
            <a:r>
              <a:rPr lang="en-US" sz="6783" b="true">
                <a:solidFill>
                  <a:srgbClr val="F0EDE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SDGs Impact - PakanPitik</a:t>
            </a:r>
          </a:p>
        </p:txBody>
      </p:sp>
    </p:spTree>
  </p:cSld>
  <p:clrMapOvr>
    <a:masterClrMapping/>
  </p:clrMapOvr>
  <p:transition spd="slow">
    <p:push dir="d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59" y="0"/>
            <a:ext cx="18278283" cy="10287000"/>
          </a:xfrm>
          <a:custGeom>
            <a:avLst/>
            <a:gdLst/>
            <a:ahLst/>
            <a:cxnLst/>
            <a:rect r="r" b="b" t="t" l="l"/>
            <a:pathLst>
              <a:path h="10287000" w="18278283">
                <a:moveTo>
                  <a:pt x="0" y="0"/>
                </a:moveTo>
                <a:lnTo>
                  <a:pt x="18278282" y="0"/>
                </a:lnTo>
                <a:lnTo>
                  <a:pt x="1827828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74710" y="1402575"/>
            <a:ext cx="11084590" cy="7014430"/>
          </a:xfrm>
          <a:custGeom>
            <a:avLst/>
            <a:gdLst/>
            <a:ahLst/>
            <a:cxnLst/>
            <a:rect r="r" b="b" t="t" l="l"/>
            <a:pathLst>
              <a:path h="7014430" w="11084590">
                <a:moveTo>
                  <a:pt x="0" y="0"/>
                </a:moveTo>
                <a:lnTo>
                  <a:pt x="11084590" y="0"/>
                </a:lnTo>
                <a:lnTo>
                  <a:pt x="11084590" y="7014431"/>
                </a:lnTo>
                <a:lnTo>
                  <a:pt x="0" y="70144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42" r="0" b="-164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520169" y="-133350"/>
            <a:ext cx="9247661" cy="1198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50"/>
              </a:lnSpc>
            </a:pPr>
            <a:r>
              <a:rPr lang="en-US" b="true" sz="7035">
                <a:solidFill>
                  <a:srgbClr val="F0EDE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Diagram Blok Sistem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9232" y="1565788"/>
            <a:ext cx="5330812" cy="6263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1"/>
              </a:lnSpc>
            </a:pPr>
            <a:r>
              <a:rPr lang="en-US" sz="2394">
                <a:solidFill>
                  <a:srgbClr val="F0EDEB"/>
                </a:solidFill>
                <a:latin typeface="Open Sans"/>
                <a:ea typeface="Open Sans"/>
                <a:cs typeface="Open Sans"/>
                <a:sym typeface="Open Sans"/>
              </a:rPr>
              <a:t>Berdasarkan blokdiagram disamping kami menggunakan ATmega2560 yang memiliki fungsi untuk pusat kendali yang akan menerima data dari RTC DS3231, sensor ultrasonic HC-SR04, dan untuk tombol manual. kemudian dari data itu sistem dapat mengontrol  servo MG90 untuk menyalurkan pakan secara otomatis. yang dapat kita lihat melalui info yang ada di LED 16 X 2</a:t>
            </a:r>
          </a:p>
          <a:p>
            <a:pPr algn="l">
              <a:lnSpc>
                <a:spcPts val="3351"/>
              </a:lnSpc>
            </a:pPr>
            <a:r>
              <a:rPr lang="en-US" sz="2394">
                <a:solidFill>
                  <a:srgbClr val="F0EDEB"/>
                </a:solidFill>
                <a:latin typeface="Open Sans"/>
                <a:ea typeface="Open Sans"/>
                <a:cs typeface="Open Sans"/>
                <a:sym typeface="Open Sans"/>
              </a:rPr>
              <a:t>untuk memantau data stok pakan dan pemberian pakan kita bisa memantau liwat Web dashboard berbasis IoT.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59" y="0"/>
            <a:ext cx="18278283" cy="10287000"/>
          </a:xfrm>
          <a:custGeom>
            <a:avLst/>
            <a:gdLst/>
            <a:ahLst/>
            <a:cxnLst/>
            <a:rect r="r" b="b" t="t" l="l"/>
            <a:pathLst>
              <a:path h="10287000" w="18278283">
                <a:moveTo>
                  <a:pt x="0" y="0"/>
                </a:moveTo>
                <a:lnTo>
                  <a:pt x="18278282" y="0"/>
                </a:lnTo>
                <a:lnTo>
                  <a:pt x="1827828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969635" y="1126464"/>
            <a:ext cx="12348729" cy="6915288"/>
          </a:xfrm>
          <a:custGeom>
            <a:avLst/>
            <a:gdLst/>
            <a:ahLst/>
            <a:cxnLst/>
            <a:rect r="r" b="b" t="t" l="l"/>
            <a:pathLst>
              <a:path h="6915288" w="12348729">
                <a:moveTo>
                  <a:pt x="0" y="0"/>
                </a:moveTo>
                <a:lnTo>
                  <a:pt x="12348730" y="0"/>
                </a:lnTo>
                <a:lnTo>
                  <a:pt x="12348730" y="6915288"/>
                </a:lnTo>
                <a:lnTo>
                  <a:pt x="0" y="69152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310786" y="-123825"/>
            <a:ext cx="5666427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97"/>
              </a:lnSpc>
            </a:pPr>
            <a:r>
              <a:rPr lang="en-US" sz="6783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UI/UX Desain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26550" y="8091891"/>
            <a:ext cx="14434899" cy="1482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6"/>
              </a:lnSpc>
            </a:pPr>
            <a:r>
              <a:rPr lang="en-US" sz="284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User → Dashboard → Atur Jadwal/Durasi → Kirim ke ESP32 → A</a:t>
            </a:r>
            <a:r>
              <a:rPr lang="en-US" sz="284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Tmega2560 Memproses → Servo Mengeluarkan Pakan → Data Tersimpan di Cloud → Riwayat &amp; Status Ditampilkan Kembali ke User.</a:t>
            </a:r>
          </a:p>
        </p:txBody>
      </p:sp>
    </p:spTree>
  </p:cSld>
  <p:clrMapOvr>
    <a:masterClrMapping/>
  </p:clrMapOvr>
  <p:transition spd="slow">
    <p:push dir="r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050" y="-9525"/>
            <a:ext cx="18278283" cy="10287000"/>
          </a:xfrm>
          <a:custGeom>
            <a:avLst/>
            <a:gdLst/>
            <a:ahLst/>
            <a:cxnLst/>
            <a:rect r="r" b="b" t="t" l="l"/>
            <a:pathLst>
              <a:path h="10287000" w="18278283">
                <a:moveTo>
                  <a:pt x="0" y="0"/>
                </a:moveTo>
                <a:lnTo>
                  <a:pt x="18278283" y="0"/>
                </a:lnTo>
                <a:lnTo>
                  <a:pt x="182782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260126" y="1420577"/>
            <a:ext cx="11767749" cy="7837723"/>
          </a:xfrm>
          <a:custGeom>
            <a:avLst/>
            <a:gdLst/>
            <a:ahLst/>
            <a:cxnLst/>
            <a:rect r="r" b="b" t="t" l="l"/>
            <a:pathLst>
              <a:path h="7837723" w="11767749">
                <a:moveTo>
                  <a:pt x="0" y="0"/>
                </a:moveTo>
                <a:lnTo>
                  <a:pt x="11767748" y="0"/>
                </a:lnTo>
                <a:lnTo>
                  <a:pt x="11767748" y="7837723"/>
                </a:lnTo>
                <a:lnTo>
                  <a:pt x="0" y="78377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55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43709" y="161915"/>
            <a:ext cx="5000581" cy="1097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05"/>
              </a:lnSpc>
            </a:pPr>
            <a:r>
              <a:rPr lang="en-US" sz="6361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Pin Mapping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59" y="0"/>
            <a:ext cx="18283141" cy="10289734"/>
          </a:xfrm>
          <a:custGeom>
            <a:avLst/>
            <a:gdLst/>
            <a:ahLst/>
            <a:cxnLst/>
            <a:rect r="r" b="b" t="t" l="l"/>
            <a:pathLst>
              <a:path h="10289734" w="18283141">
                <a:moveTo>
                  <a:pt x="0" y="0"/>
                </a:moveTo>
                <a:lnTo>
                  <a:pt x="18283141" y="0"/>
                </a:lnTo>
                <a:lnTo>
                  <a:pt x="18283141" y="10289734"/>
                </a:lnTo>
                <a:lnTo>
                  <a:pt x="0" y="102897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635463"/>
            <a:ext cx="8705242" cy="4624660"/>
          </a:xfrm>
          <a:custGeom>
            <a:avLst/>
            <a:gdLst/>
            <a:ahLst/>
            <a:cxnLst/>
            <a:rect r="r" b="b" t="t" l="l"/>
            <a:pathLst>
              <a:path h="4624660" w="8705242">
                <a:moveTo>
                  <a:pt x="0" y="0"/>
                </a:moveTo>
                <a:lnTo>
                  <a:pt x="8705242" y="0"/>
                </a:lnTo>
                <a:lnTo>
                  <a:pt x="8705242" y="4624660"/>
                </a:lnTo>
                <a:lnTo>
                  <a:pt x="0" y="46246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52632" y="2635463"/>
            <a:ext cx="6906668" cy="4624660"/>
          </a:xfrm>
          <a:custGeom>
            <a:avLst/>
            <a:gdLst/>
            <a:ahLst/>
            <a:cxnLst/>
            <a:rect r="r" b="b" t="t" l="l"/>
            <a:pathLst>
              <a:path h="4624660" w="6906668">
                <a:moveTo>
                  <a:pt x="0" y="0"/>
                </a:moveTo>
                <a:lnTo>
                  <a:pt x="6906668" y="0"/>
                </a:lnTo>
                <a:lnTo>
                  <a:pt x="6906668" y="4624660"/>
                </a:lnTo>
                <a:lnTo>
                  <a:pt x="0" y="46246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781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613311" y="14254"/>
            <a:ext cx="11061377" cy="1014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10"/>
              </a:lnSpc>
            </a:pPr>
            <a:r>
              <a:rPr lang="en-US" sz="5936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Dokumentasi pengerjaan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52392" y="1921214"/>
            <a:ext cx="635186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Contri</a:t>
            </a: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bution Graph GitHub tim.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62156" y="1921214"/>
            <a:ext cx="295525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Diskusi Project</a:t>
            </a:r>
          </a:p>
        </p:txBody>
      </p:sp>
    </p:spTree>
  </p:cSld>
  <p:clrMapOvr>
    <a:masterClrMapping/>
  </p:clrMapOvr>
  <p:transition spd="slow">
    <p:push dir="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DAHLBhW951w</dc:identifier>
  <dcterms:modified xsi:type="dcterms:W3CDTF">2011-08-01T06:04:30Z</dcterms:modified>
  <cp:revision>1</cp:revision>
  <dc:title>Tambahkan judul</dc:title>
</cp:coreProperties>
</file>